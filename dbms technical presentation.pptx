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67" r:id="rId14"/>
    <p:sldId id="268" r:id="rId15"/>
    <p:sldId id="269" r:id="rId16"/>
    <p:sldId id="274" r:id="rId17"/>
    <p:sldId id="270" r:id="rId18"/>
    <p:sldId id="271" r:id="rId19"/>
    <p:sldId id="272" r:id="rId20"/>
    <p:sldId id="275" r:id="rId21"/>
  </p:sldIdLst>
  <p:sldSz cx="18288000" cy="10287000"/>
  <p:notesSz cx="6858000" cy="9144000"/>
  <p:embeddedFontLst>
    <p:embeddedFont>
      <p:font typeface="Canva Sans" panose="020B0604020202020204" charset="0"/>
      <p:regular r:id="rId22"/>
    </p:embeddedFont>
    <p:embeddedFont>
      <p:font typeface="Canva Sans Bold" panose="020B0604020202020204" charset="0"/>
      <p:regular r:id="rId23"/>
    </p:embeddedFont>
    <p:embeddedFont>
      <p:font typeface="Clear Sans" panose="020B0604020202020204" charset="0"/>
      <p:regular r:id="rId24"/>
    </p:embeddedFont>
    <p:embeddedFont>
      <p:font typeface="Clear Sans Bold" panose="020B0604020202020204" charset="0"/>
      <p:regular r:id="rId25"/>
    </p:embeddedFont>
    <p:embeddedFont>
      <p:font typeface="Times New Roman MT Condensed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32509" y="7625593"/>
            <a:ext cx="5898624" cy="3855248"/>
            <a:chOff x="0" y="0"/>
            <a:chExt cx="2036073" cy="1330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6074" cy="1330745"/>
            </a:xfrm>
            <a:custGeom>
              <a:avLst/>
              <a:gdLst/>
              <a:ahLst/>
              <a:cxnLst/>
              <a:rect l="l" t="t" r="r" b="b"/>
              <a:pathLst>
                <a:path w="2036074" h="1330745">
                  <a:moveTo>
                    <a:pt x="1576768" y="716958"/>
                  </a:moveTo>
                  <a:lnTo>
                    <a:pt x="1576768" y="557293"/>
                  </a:lnTo>
                  <a:cubicBezTo>
                    <a:pt x="1576769" y="524360"/>
                    <a:pt x="1563687" y="492776"/>
                    <a:pt x="1540400" y="469489"/>
                  </a:cubicBezTo>
                  <a:cubicBezTo>
                    <a:pt x="1517113" y="446202"/>
                    <a:pt x="1485529" y="433120"/>
                    <a:pt x="1452597" y="433120"/>
                  </a:cubicBezTo>
                  <a:lnTo>
                    <a:pt x="867306" y="433120"/>
                  </a:lnTo>
                  <a:cubicBezTo>
                    <a:pt x="798728" y="433120"/>
                    <a:pt x="743134" y="377526"/>
                    <a:pt x="743134" y="308948"/>
                  </a:cubicBezTo>
                  <a:lnTo>
                    <a:pt x="743134" y="124172"/>
                  </a:lnTo>
                  <a:cubicBezTo>
                    <a:pt x="743133" y="55594"/>
                    <a:pt x="687540" y="1"/>
                    <a:pt x="618962" y="0"/>
                  </a:cubicBezTo>
                  <a:lnTo>
                    <a:pt x="124172" y="0"/>
                  </a:lnTo>
                  <a:cubicBezTo>
                    <a:pt x="55594" y="1"/>
                    <a:pt x="1" y="55594"/>
                    <a:pt x="0" y="124172"/>
                  </a:cubicBezTo>
                  <a:lnTo>
                    <a:pt x="0" y="489613"/>
                  </a:lnTo>
                  <a:lnTo>
                    <a:pt x="0" y="798561"/>
                  </a:lnTo>
                  <a:cubicBezTo>
                    <a:pt x="0" y="867139"/>
                    <a:pt x="55593" y="922733"/>
                    <a:pt x="124172" y="922734"/>
                  </a:cubicBezTo>
                  <a:lnTo>
                    <a:pt x="1168766" y="922734"/>
                  </a:lnTo>
                  <a:cubicBezTo>
                    <a:pt x="1201698" y="922733"/>
                    <a:pt x="1233282" y="935816"/>
                    <a:pt x="1256569" y="959102"/>
                  </a:cubicBezTo>
                  <a:cubicBezTo>
                    <a:pt x="1279856" y="982389"/>
                    <a:pt x="1292938" y="1013973"/>
                    <a:pt x="1292937" y="1046905"/>
                  </a:cubicBezTo>
                  <a:lnTo>
                    <a:pt x="1292937" y="1206572"/>
                  </a:lnTo>
                  <a:cubicBezTo>
                    <a:pt x="1292937" y="1275151"/>
                    <a:pt x="1348532" y="1330745"/>
                    <a:pt x="1417110" y="1330745"/>
                  </a:cubicBezTo>
                  <a:lnTo>
                    <a:pt x="1911902" y="1330745"/>
                  </a:lnTo>
                  <a:cubicBezTo>
                    <a:pt x="1944835" y="1330745"/>
                    <a:pt x="1976419" y="1317663"/>
                    <a:pt x="1999706" y="1294376"/>
                  </a:cubicBezTo>
                  <a:cubicBezTo>
                    <a:pt x="2022992" y="1271089"/>
                    <a:pt x="2036075" y="1239505"/>
                    <a:pt x="2036074" y="1206572"/>
                  </a:cubicBezTo>
                  <a:lnTo>
                    <a:pt x="2036074" y="965303"/>
                  </a:lnTo>
                  <a:cubicBezTo>
                    <a:pt x="2036075" y="932370"/>
                    <a:pt x="2022992" y="900787"/>
                    <a:pt x="1999705" y="877500"/>
                  </a:cubicBezTo>
                  <a:cubicBezTo>
                    <a:pt x="1976419" y="854213"/>
                    <a:pt x="1944835" y="841131"/>
                    <a:pt x="1911902" y="841131"/>
                  </a:cubicBezTo>
                  <a:lnTo>
                    <a:pt x="1700943" y="841131"/>
                  </a:lnTo>
                  <a:cubicBezTo>
                    <a:pt x="1668010" y="841132"/>
                    <a:pt x="1636426" y="828049"/>
                    <a:pt x="1613138" y="804762"/>
                  </a:cubicBezTo>
                  <a:cubicBezTo>
                    <a:pt x="1589851" y="781475"/>
                    <a:pt x="1576768" y="749891"/>
                    <a:pt x="1576768" y="716958"/>
                  </a:cubicBezTo>
                  <a:close/>
                </a:path>
              </a:pathLst>
            </a:custGeom>
            <a:solidFill>
              <a:srgbClr val="3030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2949312" y="4883948"/>
            <a:ext cx="5898624" cy="3855248"/>
            <a:chOff x="0" y="0"/>
            <a:chExt cx="2036073" cy="13307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36074" cy="1330745"/>
            </a:xfrm>
            <a:custGeom>
              <a:avLst/>
              <a:gdLst/>
              <a:ahLst/>
              <a:cxnLst/>
              <a:rect l="l" t="t" r="r" b="b"/>
              <a:pathLst>
                <a:path w="2036074" h="1330745">
                  <a:moveTo>
                    <a:pt x="1576768" y="716958"/>
                  </a:moveTo>
                  <a:lnTo>
                    <a:pt x="1576768" y="557293"/>
                  </a:lnTo>
                  <a:cubicBezTo>
                    <a:pt x="1576769" y="524360"/>
                    <a:pt x="1563687" y="492776"/>
                    <a:pt x="1540400" y="469489"/>
                  </a:cubicBezTo>
                  <a:cubicBezTo>
                    <a:pt x="1517113" y="446202"/>
                    <a:pt x="1485529" y="433120"/>
                    <a:pt x="1452597" y="433120"/>
                  </a:cubicBezTo>
                  <a:lnTo>
                    <a:pt x="867306" y="433120"/>
                  </a:lnTo>
                  <a:cubicBezTo>
                    <a:pt x="798728" y="433120"/>
                    <a:pt x="743134" y="377526"/>
                    <a:pt x="743134" y="308948"/>
                  </a:cubicBezTo>
                  <a:lnTo>
                    <a:pt x="743134" y="124172"/>
                  </a:lnTo>
                  <a:cubicBezTo>
                    <a:pt x="743133" y="55594"/>
                    <a:pt x="687540" y="1"/>
                    <a:pt x="618962" y="0"/>
                  </a:cubicBezTo>
                  <a:lnTo>
                    <a:pt x="124172" y="0"/>
                  </a:lnTo>
                  <a:cubicBezTo>
                    <a:pt x="55594" y="1"/>
                    <a:pt x="1" y="55594"/>
                    <a:pt x="0" y="124172"/>
                  </a:cubicBezTo>
                  <a:lnTo>
                    <a:pt x="0" y="489613"/>
                  </a:lnTo>
                  <a:lnTo>
                    <a:pt x="0" y="798561"/>
                  </a:lnTo>
                  <a:cubicBezTo>
                    <a:pt x="0" y="867139"/>
                    <a:pt x="55593" y="922733"/>
                    <a:pt x="124172" y="922734"/>
                  </a:cubicBezTo>
                  <a:lnTo>
                    <a:pt x="1168766" y="922734"/>
                  </a:lnTo>
                  <a:cubicBezTo>
                    <a:pt x="1201698" y="922733"/>
                    <a:pt x="1233282" y="935816"/>
                    <a:pt x="1256569" y="959102"/>
                  </a:cubicBezTo>
                  <a:cubicBezTo>
                    <a:pt x="1279856" y="982389"/>
                    <a:pt x="1292938" y="1013973"/>
                    <a:pt x="1292937" y="1046905"/>
                  </a:cubicBezTo>
                  <a:lnTo>
                    <a:pt x="1292937" y="1206572"/>
                  </a:lnTo>
                  <a:cubicBezTo>
                    <a:pt x="1292937" y="1275151"/>
                    <a:pt x="1348532" y="1330745"/>
                    <a:pt x="1417110" y="1330745"/>
                  </a:cubicBezTo>
                  <a:lnTo>
                    <a:pt x="1911902" y="1330745"/>
                  </a:lnTo>
                  <a:cubicBezTo>
                    <a:pt x="1944835" y="1330745"/>
                    <a:pt x="1976419" y="1317663"/>
                    <a:pt x="1999706" y="1294376"/>
                  </a:cubicBezTo>
                  <a:cubicBezTo>
                    <a:pt x="2022992" y="1271089"/>
                    <a:pt x="2036075" y="1239505"/>
                    <a:pt x="2036074" y="1206572"/>
                  </a:cubicBezTo>
                  <a:lnTo>
                    <a:pt x="2036074" y="965303"/>
                  </a:lnTo>
                  <a:cubicBezTo>
                    <a:pt x="2036075" y="932370"/>
                    <a:pt x="2022992" y="900787"/>
                    <a:pt x="1999705" y="877500"/>
                  </a:cubicBezTo>
                  <a:cubicBezTo>
                    <a:pt x="1976419" y="854213"/>
                    <a:pt x="1944835" y="841131"/>
                    <a:pt x="1911902" y="841131"/>
                  </a:cubicBezTo>
                  <a:lnTo>
                    <a:pt x="1700943" y="841131"/>
                  </a:lnTo>
                  <a:cubicBezTo>
                    <a:pt x="1668010" y="841132"/>
                    <a:pt x="1636426" y="828049"/>
                    <a:pt x="1613138" y="804762"/>
                  </a:cubicBezTo>
                  <a:cubicBezTo>
                    <a:pt x="1589851" y="781475"/>
                    <a:pt x="1576768" y="749891"/>
                    <a:pt x="1576768" y="716958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018087" y="-1756669"/>
            <a:ext cx="5898624" cy="3855248"/>
            <a:chOff x="0" y="0"/>
            <a:chExt cx="2036073" cy="133074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36074" cy="1330745"/>
            </a:xfrm>
            <a:custGeom>
              <a:avLst/>
              <a:gdLst/>
              <a:ahLst/>
              <a:cxnLst/>
              <a:rect l="l" t="t" r="r" b="b"/>
              <a:pathLst>
                <a:path w="2036074" h="1330745">
                  <a:moveTo>
                    <a:pt x="1576768" y="716958"/>
                  </a:moveTo>
                  <a:lnTo>
                    <a:pt x="1576768" y="557293"/>
                  </a:lnTo>
                  <a:cubicBezTo>
                    <a:pt x="1576769" y="524360"/>
                    <a:pt x="1563687" y="492776"/>
                    <a:pt x="1540400" y="469489"/>
                  </a:cubicBezTo>
                  <a:cubicBezTo>
                    <a:pt x="1517113" y="446202"/>
                    <a:pt x="1485529" y="433120"/>
                    <a:pt x="1452597" y="433120"/>
                  </a:cubicBezTo>
                  <a:lnTo>
                    <a:pt x="867306" y="433120"/>
                  </a:lnTo>
                  <a:cubicBezTo>
                    <a:pt x="798728" y="433120"/>
                    <a:pt x="743134" y="377526"/>
                    <a:pt x="743134" y="308948"/>
                  </a:cubicBezTo>
                  <a:lnTo>
                    <a:pt x="743134" y="124172"/>
                  </a:lnTo>
                  <a:cubicBezTo>
                    <a:pt x="743133" y="55594"/>
                    <a:pt x="687540" y="1"/>
                    <a:pt x="618962" y="0"/>
                  </a:cubicBezTo>
                  <a:lnTo>
                    <a:pt x="124172" y="0"/>
                  </a:lnTo>
                  <a:cubicBezTo>
                    <a:pt x="55594" y="1"/>
                    <a:pt x="1" y="55594"/>
                    <a:pt x="0" y="124172"/>
                  </a:cubicBezTo>
                  <a:lnTo>
                    <a:pt x="0" y="489613"/>
                  </a:lnTo>
                  <a:lnTo>
                    <a:pt x="0" y="798561"/>
                  </a:lnTo>
                  <a:cubicBezTo>
                    <a:pt x="0" y="867139"/>
                    <a:pt x="55593" y="922733"/>
                    <a:pt x="124172" y="922734"/>
                  </a:cubicBezTo>
                  <a:lnTo>
                    <a:pt x="1168766" y="922734"/>
                  </a:lnTo>
                  <a:cubicBezTo>
                    <a:pt x="1201698" y="922733"/>
                    <a:pt x="1233282" y="935816"/>
                    <a:pt x="1256569" y="959102"/>
                  </a:cubicBezTo>
                  <a:cubicBezTo>
                    <a:pt x="1279856" y="982389"/>
                    <a:pt x="1292938" y="1013973"/>
                    <a:pt x="1292937" y="1046905"/>
                  </a:cubicBezTo>
                  <a:lnTo>
                    <a:pt x="1292937" y="1206572"/>
                  </a:lnTo>
                  <a:cubicBezTo>
                    <a:pt x="1292937" y="1275151"/>
                    <a:pt x="1348532" y="1330745"/>
                    <a:pt x="1417110" y="1330745"/>
                  </a:cubicBezTo>
                  <a:lnTo>
                    <a:pt x="1911902" y="1330745"/>
                  </a:lnTo>
                  <a:cubicBezTo>
                    <a:pt x="1944835" y="1330745"/>
                    <a:pt x="1976419" y="1317663"/>
                    <a:pt x="1999706" y="1294376"/>
                  </a:cubicBezTo>
                  <a:cubicBezTo>
                    <a:pt x="2022992" y="1271089"/>
                    <a:pt x="2036075" y="1239505"/>
                    <a:pt x="2036074" y="1206572"/>
                  </a:cubicBezTo>
                  <a:lnTo>
                    <a:pt x="2036074" y="965303"/>
                  </a:lnTo>
                  <a:cubicBezTo>
                    <a:pt x="2036075" y="932370"/>
                    <a:pt x="2022992" y="900787"/>
                    <a:pt x="1999705" y="877500"/>
                  </a:cubicBezTo>
                  <a:cubicBezTo>
                    <a:pt x="1976419" y="854213"/>
                    <a:pt x="1944835" y="841131"/>
                    <a:pt x="1911902" y="841131"/>
                  </a:cubicBezTo>
                  <a:lnTo>
                    <a:pt x="1700943" y="841131"/>
                  </a:lnTo>
                  <a:cubicBezTo>
                    <a:pt x="1668010" y="841132"/>
                    <a:pt x="1636426" y="828049"/>
                    <a:pt x="1613138" y="804762"/>
                  </a:cubicBezTo>
                  <a:cubicBezTo>
                    <a:pt x="1589851" y="781475"/>
                    <a:pt x="1576768" y="749891"/>
                    <a:pt x="1576768" y="716958"/>
                  </a:cubicBezTo>
                  <a:close/>
                </a:path>
              </a:pathLst>
            </a:custGeom>
            <a:solidFill>
              <a:srgbClr val="303030"/>
            </a:solidFill>
          </p:spPr>
        </p:sp>
      </p:grpSp>
      <p:grpSp>
        <p:nvGrpSpPr>
          <p:cNvPr id="8" name="Group 8"/>
          <p:cNvGrpSpPr/>
          <p:nvPr/>
        </p:nvGrpSpPr>
        <p:grpSpPr>
          <a:xfrm rot="-10800000">
            <a:off x="15473748" y="1028700"/>
            <a:ext cx="5898624" cy="3855248"/>
            <a:chOff x="0" y="0"/>
            <a:chExt cx="2036073" cy="13307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6074" cy="1330745"/>
            </a:xfrm>
            <a:custGeom>
              <a:avLst/>
              <a:gdLst/>
              <a:ahLst/>
              <a:cxnLst/>
              <a:rect l="l" t="t" r="r" b="b"/>
              <a:pathLst>
                <a:path w="2036074" h="1330745">
                  <a:moveTo>
                    <a:pt x="1576768" y="716958"/>
                  </a:moveTo>
                  <a:lnTo>
                    <a:pt x="1576768" y="557293"/>
                  </a:lnTo>
                  <a:cubicBezTo>
                    <a:pt x="1576769" y="524360"/>
                    <a:pt x="1563687" y="492776"/>
                    <a:pt x="1540400" y="469489"/>
                  </a:cubicBezTo>
                  <a:cubicBezTo>
                    <a:pt x="1517113" y="446202"/>
                    <a:pt x="1485529" y="433120"/>
                    <a:pt x="1452597" y="433120"/>
                  </a:cubicBezTo>
                  <a:lnTo>
                    <a:pt x="867306" y="433120"/>
                  </a:lnTo>
                  <a:cubicBezTo>
                    <a:pt x="798728" y="433120"/>
                    <a:pt x="743134" y="377526"/>
                    <a:pt x="743134" y="308948"/>
                  </a:cubicBezTo>
                  <a:lnTo>
                    <a:pt x="743134" y="124172"/>
                  </a:lnTo>
                  <a:cubicBezTo>
                    <a:pt x="743133" y="55594"/>
                    <a:pt x="687540" y="1"/>
                    <a:pt x="618962" y="0"/>
                  </a:cubicBezTo>
                  <a:lnTo>
                    <a:pt x="124172" y="0"/>
                  </a:lnTo>
                  <a:cubicBezTo>
                    <a:pt x="55594" y="1"/>
                    <a:pt x="1" y="55594"/>
                    <a:pt x="0" y="124172"/>
                  </a:cubicBezTo>
                  <a:lnTo>
                    <a:pt x="0" y="489613"/>
                  </a:lnTo>
                  <a:lnTo>
                    <a:pt x="0" y="798561"/>
                  </a:lnTo>
                  <a:cubicBezTo>
                    <a:pt x="0" y="867139"/>
                    <a:pt x="55593" y="922733"/>
                    <a:pt x="124172" y="922734"/>
                  </a:cubicBezTo>
                  <a:lnTo>
                    <a:pt x="1168766" y="922734"/>
                  </a:lnTo>
                  <a:cubicBezTo>
                    <a:pt x="1201698" y="922733"/>
                    <a:pt x="1233282" y="935816"/>
                    <a:pt x="1256569" y="959102"/>
                  </a:cubicBezTo>
                  <a:cubicBezTo>
                    <a:pt x="1279856" y="982389"/>
                    <a:pt x="1292938" y="1013973"/>
                    <a:pt x="1292937" y="1046905"/>
                  </a:cubicBezTo>
                  <a:lnTo>
                    <a:pt x="1292937" y="1206572"/>
                  </a:lnTo>
                  <a:cubicBezTo>
                    <a:pt x="1292937" y="1275151"/>
                    <a:pt x="1348532" y="1330745"/>
                    <a:pt x="1417110" y="1330745"/>
                  </a:cubicBezTo>
                  <a:lnTo>
                    <a:pt x="1911902" y="1330745"/>
                  </a:lnTo>
                  <a:cubicBezTo>
                    <a:pt x="1944835" y="1330745"/>
                    <a:pt x="1976419" y="1317663"/>
                    <a:pt x="1999706" y="1294376"/>
                  </a:cubicBezTo>
                  <a:cubicBezTo>
                    <a:pt x="2022992" y="1271089"/>
                    <a:pt x="2036075" y="1239505"/>
                    <a:pt x="2036074" y="1206572"/>
                  </a:cubicBezTo>
                  <a:lnTo>
                    <a:pt x="2036074" y="965303"/>
                  </a:lnTo>
                  <a:cubicBezTo>
                    <a:pt x="2036075" y="932370"/>
                    <a:pt x="2022992" y="900787"/>
                    <a:pt x="1999705" y="877500"/>
                  </a:cubicBezTo>
                  <a:cubicBezTo>
                    <a:pt x="1976419" y="854213"/>
                    <a:pt x="1944835" y="841131"/>
                    <a:pt x="1911902" y="841131"/>
                  </a:cubicBezTo>
                  <a:lnTo>
                    <a:pt x="1700943" y="841131"/>
                  </a:lnTo>
                  <a:cubicBezTo>
                    <a:pt x="1668010" y="841132"/>
                    <a:pt x="1636426" y="828049"/>
                    <a:pt x="1613138" y="804762"/>
                  </a:cubicBezTo>
                  <a:cubicBezTo>
                    <a:pt x="1589851" y="781475"/>
                    <a:pt x="1576768" y="749891"/>
                    <a:pt x="1576768" y="716958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</p:grpSp>
      <p:grpSp>
        <p:nvGrpSpPr>
          <p:cNvPr id="10" name="Group 10"/>
          <p:cNvGrpSpPr/>
          <p:nvPr/>
        </p:nvGrpSpPr>
        <p:grpSpPr>
          <a:xfrm rot="-10800000">
            <a:off x="3159651" y="8511776"/>
            <a:ext cx="5898624" cy="3855248"/>
            <a:chOff x="0" y="0"/>
            <a:chExt cx="2036073" cy="133074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6074" cy="1330745"/>
            </a:xfrm>
            <a:custGeom>
              <a:avLst/>
              <a:gdLst/>
              <a:ahLst/>
              <a:cxnLst/>
              <a:rect l="l" t="t" r="r" b="b"/>
              <a:pathLst>
                <a:path w="2036074" h="1330745">
                  <a:moveTo>
                    <a:pt x="1576768" y="716958"/>
                  </a:moveTo>
                  <a:lnTo>
                    <a:pt x="1576768" y="557293"/>
                  </a:lnTo>
                  <a:cubicBezTo>
                    <a:pt x="1576769" y="524360"/>
                    <a:pt x="1563687" y="492776"/>
                    <a:pt x="1540400" y="469489"/>
                  </a:cubicBezTo>
                  <a:cubicBezTo>
                    <a:pt x="1517113" y="446202"/>
                    <a:pt x="1485529" y="433120"/>
                    <a:pt x="1452597" y="433120"/>
                  </a:cubicBezTo>
                  <a:lnTo>
                    <a:pt x="867306" y="433120"/>
                  </a:lnTo>
                  <a:cubicBezTo>
                    <a:pt x="798728" y="433120"/>
                    <a:pt x="743134" y="377526"/>
                    <a:pt x="743134" y="308948"/>
                  </a:cubicBezTo>
                  <a:lnTo>
                    <a:pt x="743134" y="124172"/>
                  </a:lnTo>
                  <a:cubicBezTo>
                    <a:pt x="743133" y="55594"/>
                    <a:pt x="687540" y="1"/>
                    <a:pt x="618962" y="0"/>
                  </a:cubicBezTo>
                  <a:lnTo>
                    <a:pt x="124172" y="0"/>
                  </a:lnTo>
                  <a:cubicBezTo>
                    <a:pt x="55594" y="1"/>
                    <a:pt x="1" y="55594"/>
                    <a:pt x="0" y="124172"/>
                  </a:cubicBezTo>
                  <a:lnTo>
                    <a:pt x="0" y="489613"/>
                  </a:lnTo>
                  <a:lnTo>
                    <a:pt x="0" y="798561"/>
                  </a:lnTo>
                  <a:cubicBezTo>
                    <a:pt x="0" y="867139"/>
                    <a:pt x="55593" y="922733"/>
                    <a:pt x="124172" y="922734"/>
                  </a:cubicBezTo>
                  <a:lnTo>
                    <a:pt x="1168766" y="922734"/>
                  </a:lnTo>
                  <a:cubicBezTo>
                    <a:pt x="1201698" y="922733"/>
                    <a:pt x="1233282" y="935816"/>
                    <a:pt x="1256569" y="959102"/>
                  </a:cubicBezTo>
                  <a:cubicBezTo>
                    <a:pt x="1279856" y="982389"/>
                    <a:pt x="1292938" y="1013973"/>
                    <a:pt x="1292937" y="1046905"/>
                  </a:cubicBezTo>
                  <a:lnTo>
                    <a:pt x="1292937" y="1206572"/>
                  </a:lnTo>
                  <a:cubicBezTo>
                    <a:pt x="1292937" y="1275151"/>
                    <a:pt x="1348532" y="1330745"/>
                    <a:pt x="1417110" y="1330745"/>
                  </a:cubicBezTo>
                  <a:lnTo>
                    <a:pt x="1911902" y="1330745"/>
                  </a:lnTo>
                  <a:cubicBezTo>
                    <a:pt x="1944835" y="1330745"/>
                    <a:pt x="1976419" y="1317663"/>
                    <a:pt x="1999706" y="1294376"/>
                  </a:cubicBezTo>
                  <a:cubicBezTo>
                    <a:pt x="2022992" y="1271089"/>
                    <a:pt x="2036075" y="1239505"/>
                    <a:pt x="2036074" y="1206572"/>
                  </a:cubicBezTo>
                  <a:lnTo>
                    <a:pt x="2036074" y="965303"/>
                  </a:lnTo>
                  <a:cubicBezTo>
                    <a:pt x="2036075" y="932370"/>
                    <a:pt x="2022992" y="900787"/>
                    <a:pt x="1999705" y="877500"/>
                  </a:cubicBezTo>
                  <a:cubicBezTo>
                    <a:pt x="1976419" y="854213"/>
                    <a:pt x="1944835" y="841131"/>
                    <a:pt x="1911902" y="841131"/>
                  </a:cubicBezTo>
                  <a:lnTo>
                    <a:pt x="1700943" y="841131"/>
                  </a:lnTo>
                  <a:cubicBezTo>
                    <a:pt x="1668010" y="841132"/>
                    <a:pt x="1636426" y="828049"/>
                    <a:pt x="1613138" y="804762"/>
                  </a:cubicBezTo>
                  <a:cubicBezTo>
                    <a:pt x="1589851" y="781475"/>
                    <a:pt x="1576768" y="749891"/>
                    <a:pt x="1576768" y="716958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</p:grpSp>
      <p:grpSp>
        <p:nvGrpSpPr>
          <p:cNvPr id="12" name="Group 12"/>
          <p:cNvGrpSpPr/>
          <p:nvPr/>
        </p:nvGrpSpPr>
        <p:grpSpPr>
          <a:xfrm rot="-5400000">
            <a:off x="15473748" y="6811573"/>
            <a:ext cx="5898624" cy="3855248"/>
            <a:chOff x="0" y="0"/>
            <a:chExt cx="2036073" cy="133074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36074" cy="1330745"/>
            </a:xfrm>
            <a:custGeom>
              <a:avLst/>
              <a:gdLst/>
              <a:ahLst/>
              <a:cxnLst/>
              <a:rect l="l" t="t" r="r" b="b"/>
              <a:pathLst>
                <a:path w="2036074" h="1330745">
                  <a:moveTo>
                    <a:pt x="1576768" y="716958"/>
                  </a:moveTo>
                  <a:lnTo>
                    <a:pt x="1576768" y="557293"/>
                  </a:lnTo>
                  <a:cubicBezTo>
                    <a:pt x="1576769" y="524360"/>
                    <a:pt x="1563687" y="492776"/>
                    <a:pt x="1540400" y="469489"/>
                  </a:cubicBezTo>
                  <a:cubicBezTo>
                    <a:pt x="1517113" y="446202"/>
                    <a:pt x="1485529" y="433120"/>
                    <a:pt x="1452597" y="433120"/>
                  </a:cubicBezTo>
                  <a:lnTo>
                    <a:pt x="867306" y="433120"/>
                  </a:lnTo>
                  <a:cubicBezTo>
                    <a:pt x="798728" y="433120"/>
                    <a:pt x="743134" y="377526"/>
                    <a:pt x="743134" y="308948"/>
                  </a:cubicBezTo>
                  <a:lnTo>
                    <a:pt x="743134" y="124172"/>
                  </a:lnTo>
                  <a:cubicBezTo>
                    <a:pt x="743133" y="55594"/>
                    <a:pt x="687540" y="1"/>
                    <a:pt x="618962" y="0"/>
                  </a:cubicBezTo>
                  <a:lnTo>
                    <a:pt x="124172" y="0"/>
                  </a:lnTo>
                  <a:cubicBezTo>
                    <a:pt x="55594" y="1"/>
                    <a:pt x="1" y="55594"/>
                    <a:pt x="0" y="124172"/>
                  </a:cubicBezTo>
                  <a:lnTo>
                    <a:pt x="0" y="489613"/>
                  </a:lnTo>
                  <a:lnTo>
                    <a:pt x="0" y="798561"/>
                  </a:lnTo>
                  <a:cubicBezTo>
                    <a:pt x="0" y="867139"/>
                    <a:pt x="55593" y="922733"/>
                    <a:pt x="124172" y="922734"/>
                  </a:cubicBezTo>
                  <a:lnTo>
                    <a:pt x="1168766" y="922734"/>
                  </a:lnTo>
                  <a:cubicBezTo>
                    <a:pt x="1201698" y="922733"/>
                    <a:pt x="1233282" y="935816"/>
                    <a:pt x="1256569" y="959102"/>
                  </a:cubicBezTo>
                  <a:cubicBezTo>
                    <a:pt x="1279856" y="982389"/>
                    <a:pt x="1292938" y="1013973"/>
                    <a:pt x="1292937" y="1046905"/>
                  </a:cubicBezTo>
                  <a:lnTo>
                    <a:pt x="1292937" y="1206572"/>
                  </a:lnTo>
                  <a:cubicBezTo>
                    <a:pt x="1292937" y="1275151"/>
                    <a:pt x="1348532" y="1330745"/>
                    <a:pt x="1417110" y="1330745"/>
                  </a:cubicBezTo>
                  <a:lnTo>
                    <a:pt x="1911902" y="1330745"/>
                  </a:lnTo>
                  <a:cubicBezTo>
                    <a:pt x="1944835" y="1330745"/>
                    <a:pt x="1976419" y="1317663"/>
                    <a:pt x="1999706" y="1294376"/>
                  </a:cubicBezTo>
                  <a:cubicBezTo>
                    <a:pt x="2022992" y="1271089"/>
                    <a:pt x="2036075" y="1239505"/>
                    <a:pt x="2036074" y="1206572"/>
                  </a:cubicBezTo>
                  <a:lnTo>
                    <a:pt x="2036074" y="965303"/>
                  </a:lnTo>
                  <a:cubicBezTo>
                    <a:pt x="2036075" y="932370"/>
                    <a:pt x="2022992" y="900787"/>
                    <a:pt x="1999705" y="877500"/>
                  </a:cubicBezTo>
                  <a:cubicBezTo>
                    <a:pt x="1976419" y="854213"/>
                    <a:pt x="1944835" y="841131"/>
                    <a:pt x="1911902" y="841131"/>
                  </a:cubicBezTo>
                  <a:lnTo>
                    <a:pt x="1700943" y="841131"/>
                  </a:lnTo>
                  <a:cubicBezTo>
                    <a:pt x="1668010" y="841132"/>
                    <a:pt x="1636426" y="828049"/>
                    <a:pt x="1613138" y="804762"/>
                  </a:cubicBezTo>
                  <a:cubicBezTo>
                    <a:pt x="1589851" y="781475"/>
                    <a:pt x="1576768" y="749891"/>
                    <a:pt x="1576768" y="716958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</p:grpSp>
      <p:grpSp>
        <p:nvGrpSpPr>
          <p:cNvPr id="14" name="Group 14"/>
          <p:cNvGrpSpPr/>
          <p:nvPr/>
        </p:nvGrpSpPr>
        <p:grpSpPr>
          <a:xfrm rot="5400000">
            <a:off x="-3184753" y="-577410"/>
            <a:ext cx="5898624" cy="3855248"/>
            <a:chOff x="0" y="0"/>
            <a:chExt cx="2036073" cy="13307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36074" cy="1330745"/>
            </a:xfrm>
            <a:custGeom>
              <a:avLst/>
              <a:gdLst/>
              <a:ahLst/>
              <a:cxnLst/>
              <a:rect l="l" t="t" r="r" b="b"/>
              <a:pathLst>
                <a:path w="2036074" h="1330745">
                  <a:moveTo>
                    <a:pt x="1576768" y="716958"/>
                  </a:moveTo>
                  <a:lnTo>
                    <a:pt x="1576768" y="557293"/>
                  </a:lnTo>
                  <a:cubicBezTo>
                    <a:pt x="1576769" y="524360"/>
                    <a:pt x="1563687" y="492776"/>
                    <a:pt x="1540400" y="469489"/>
                  </a:cubicBezTo>
                  <a:cubicBezTo>
                    <a:pt x="1517113" y="446202"/>
                    <a:pt x="1485529" y="433120"/>
                    <a:pt x="1452597" y="433120"/>
                  </a:cubicBezTo>
                  <a:lnTo>
                    <a:pt x="867306" y="433120"/>
                  </a:lnTo>
                  <a:cubicBezTo>
                    <a:pt x="798728" y="433120"/>
                    <a:pt x="743134" y="377526"/>
                    <a:pt x="743134" y="308948"/>
                  </a:cubicBezTo>
                  <a:lnTo>
                    <a:pt x="743134" y="124172"/>
                  </a:lnTo>
                  <a:cubicBezTo>
                    <a:pt x="743133" y="55594"/>
                    <a:pt x="687540" y="1"/>
                    <a:pt x="618962" y="0"/>
                  </a:cubicBezTo>
                  <a:lnTo>
                    <a:pt x="124172" y="0"/>
                  </a:lnTo>
                  <a:cubicBezTo>
                    <a:pt x="55594" y="1"/>
                    <a:pt x="1" y="55594"/>
                    <a:pt x="0" y="124172"/>
                  </a:cubicBezTo>
                  <a:lnTo>
                    <a:pt x="0" y="489613"/>
                  </a:lnTo>
                  <a:lnTo>
                    <a:pt x="0" y="798561"/>
                  </a:lnTo>
                  <a:cubicBezTo>
                    <a:pt x="0" y="867139"/>
                    <a:pt x="55593" y="922733"/>
                    <a:pt x="124172" y="922734"/>
                  </a:cubicBezTo>
                  <a:lnTo>
                    <a:pt x="1168766" y="922734"/>
                  </a:lnTo>
                  <a:cubicBezTo>
                    <a:pt x="1201698" y="922733"/>
                    <a:pt x="1233282" y="935816"/>
                    <a:pt x="1256569" y="959102"/>
                  </a:cubicBezTo>
                  <a:cubicBezTo>
                    <a:pt x="1279856" y="982389"/>
                    <a:pt x="1292938" y="1013973"/>
                    <a:pt x="1292937" y="1046905"/>
                  </a:cubicBezTo>
                  <a:lnTo>
                    <a:pt x="1292937" y="1206572"/>
                  </a:lnTo>
                  <a:cubicBezTo>
                    <a:pt x="1292937" y="1275151"/>
                    <a:pt x="1348532" y="1330745"/>
                    <a:pt x="1417110" y="1330745"/>
                  </a:cubicBezTo>
                  <a:lnTo>
                    <a:pt x="1911902" y="1330745"/>
                  </a:lnTo>
                  <a:cubicBezTo>
                    <a:pt x="1944835" y="1330745"/>
                    <a:pt x="1976419" y="1317663"/>
                    <a:pt x="1999706" y="1294376"/>
                  </a:cubicBezTo>
                  <a:cubicBezTo>
                    <a:pt x="2022992" y="1271089"/>
                    <a:pt x="2036075" y="1239505"/>
                    <a:pt x="2036074" y="1206572"/>
                  </a:cubicBezTo>
                  <a:lnTo>
                    <a:pt x="2036074" y="965303"/>
                  </a:lnTo>
                  <a:cubicBezTo>
                    <a:pt x="2036075" y="932370"/>
                    <a:pt x="2022992" y="900787"/>
                    <a:pt x="1999705" y="877500"/>
                  </a:cubicBezTo>
                  <a:cubicBezTo>
                    <a:pt x="1976419" y="854213"/>
                    <a:pt x="1944835" y="841131"/>
                    <a:pt x="1911902" y="841131"/>
                  </a:cubicBezTo>
                  <a:lnTo>
                    <a:pt x="1700943" y="841131"/>
                  </a:lnTo>
                  <a:cubicBezTo>
                    <a:pt x="1668010" y="841132"/>
                    <a:pt x="1636426" y="828049"/>
                    <a:pt x="1613138" y="804762"/>
                  </a:cubicBezTo>
                  <a:cubicBezTo>
                    <a:pt x="1589851" y="781475"/>
                    <a:pt x="1576768" y="749891"/>
                    <a:pt x="1576768" y="716958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746146" y="3616334"/>
            <a:ext cx="16795709" cy="335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76"/>
              </a:lnSpc>
            </a:pPr>
            <a:r>
              <a:rPr lang="en-US" sz="9615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CASE-BASED SCENARIOS BY IDENTIFYING ENTITIES AND</a:t>
            </a:r>
          </a:p>
          <a:p>
            <a:pPr algn="ctr">
              <a:lnSpc>
                <a:spcPts val="8076"/>
              </a:lnSpc>
            </a:pPr>
            <a:r>
              <a:rPr lang="en-US" sz="9615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RELATIONSHIPS.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11135" y="6771244"/>
            <a:ext cx="8865731" cy="48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CSA0509</a:t>
            </a:r>
          </a:p>
        </p:txBody>
      </p:sp>
      <p:grpSp>
        <p:nvGrpSpPr>
          <p:cNvPr id="18" name="Group 18"/>
          <p:cNvGrpSpPr/>
          <p:nvPr/>
        </p:nvGrpSpPr>
        <p:grpSpPr>
          <a:xfrm rot="-5400000">
            <a:off x="15626148" y="6963973"/>
            <a:ext cx="5898624" cy="3855248"/>
            <a:chOff x="0" y="0"/>
            <a:chExt cx="2036073" cy="133074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36074" cy="1330745"/>
            </a:xfrm>
            <a:custGeom>
              <a:avLst/>
              <a:gdLst/>
              <a:ahLst/>
              <a:cxnLst/>
              <a:rect l="l" t="t" r="r" b="b"/>
              <a:pathLst>
                <a:path w="2036074" h="1330745">
                  <a:moveTo>
                    <a:pt x="1576768" y="716958"/>
                  </a:moveTo>
                  <a:lnTo>
                    <a:pt x="1576768" y="557293"/>
                  </a:lnTo>
                  <a:cubicBezTo>
                    <a:pt x="1576769" y="524360"/>
                    <a:pt x="1563687" y="492776"/>
                    <a:pt x="1540400" y="469489"/>
                  </a:cubicBezTo>
                  <a:cubicBezTo>
                    <a:pt x="1517113" y="446202"/>
                    <a:pt x="1485529" y="433120"/>
                    <a:pt x="1452597" y="433120"/>
                  </a:cubicBezTo>
                  <a:lnTo>
                    <a:pt x="867306" y="433120"/>
                  </a:lnTo>
                  <a:cubicBezTo>
                    <a:pt x="798728" y="433120"/>
                    <a:pt x="743134" y="377526"/>
                    <a:pt x="743134" y="308948"/>
                  </a:cubicBezTo>
                  <a:lnTo>
                    <a:pt x="743134" y="124172"/>
                  </a:lnTo>
                  <a:cubicBezTo>
                    <a:pt x="743133" y="55594"/>
                    <a:pt x="687540" y="1"/>
                    <a:pt x="618962" y="0"/>
                  </a:cubicBezTo>
                  <a:lnTo>
                    <a:pt x="124172" y="0"/>
                  </a:lnTo>
                  <a:cubicBezTo>
                    <a:pt x="55594" y="1"/>
                    <a:pt x="1" y="55594"/>
                    <a:pt x="0" y="124172"/>
                  </a:cubicBezTo>
                  <a:lnTo>
                    <a:pt x="0" y="489613"/>
                  </a:lnTo>
                  <a:lnTo>
                    <a:pt x="0" y="798561"/>
                  </a:lnTo>
                  <a:cubicBezTo>
                    <a:pt x="0" y="867139"/>
                    <a:pt x="55593" y="922733"/>
                    <a:pt x="124172" y="922734"/>
                  </a:cubicBezTo>
                  <a:lnTo>
                    <a:pt x="1168766" y="922734"/>
                  </a:lnTo>
                  <a:cubicBezTo>
                    <a:pt x="1201698" y="922733"/>
                    <a:pt x="1233282" y="935816"/>
                    <a:pt x="1256569" y="959102"/>
                  </a:cubicBezTo>
                  <a:cubicBezTo>
                    <a:pt x="1279856" y="982389"/>
                    <a:pt x="1292938" y="1013973"/>
                    <a:pt x="1292937" y="1046905"/>
                  </a:cubicBezTo>
                  <a:lnTo>
                    <a:pt x="1292937" y="1206572"/>
                  </a:lnTo>
                  <a:cubicBezTo>
                    <a:pt x="1292937" y="1275151"/>
                    <a:pt x="1348532" y="1330745"/>
                    <a:pt x="1417110" y="1330745"/>
                  </a:cubicBezTo>
                  <a:lnTo>
                    <a:pt x="1911902" y="1330745"/>
                  </a:lnTo>
                  <a:cubicBezTo>
                    <a:pt x="1944835" y="1330745"/>
                    <a:pt x="1976419" y="1317663"/>
                    <a:pt x="1999706" y="1294376"/>
                  </a:cubicBezTo>
                  <a:cubicBezTo>
                    <a:pt x="2022992" y="1271089"/>
                    <a:pt x="2036075" y="1239505"/>
                    <a:pt x="2036074" y="1206572"/>
                  </a:cubicBezTo>
                  <a:lnTo>
                    <a:pt x="2036074" y="965303"/>
                  </a:lnTo>
                  <a:cubicBezTo>
                    <a:pt x="2036075" y="932370"/>
                    <a:pt x="2022992" y="900787"/>
                    <a:pt x="1999705" y="877500"/>
                  </a:cubicBezTo>
                  <a:cubicBezTo>
                    <a:pt x="1976419" y="854213"/>
                    <a:pt x="1944835" y="841131"/>
                    <a:pt x="1911902" y="841131"/>
                  </a:cubicBezTo>
                  <a:lnTo>
                    <a:pt x="1700943" y="841131"/>
                  </a:lnTo>
                  <a:cubicBezTo>
                    <a:pt x="1668010" y="841132"/>
                    <a:pt x="1636426" y="828049"/>
                    <a:pt x="1613138" y="804762"/>
                  </a:cubicBezTo>
                  <a:cubicBezTo>
                    <a:pt x="1589851" y="781475"/>
                    <a:pt x="1576768" y="749891"/>
                    <a:pt x="1576768" y="716958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16803" y="4154542"/>
            <a:ext cx="10615127" cy="281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Online Library System – ER Diagram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Manages books and members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Tracks borrowing and returning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Stores library records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Uses ER model for database design</a:t>
            </a:r>
          </a:p>
          <a:p>
            <a:pPr algn="l">
              <a:lnSpc>
                <a:spcPts val="3699"/>
              </a:lnSpc>
            </a:pPr>
            <a:endParaRPr lang="en-US" sz="3699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-1963961" y="1366072"/>
            <a:ext cx="21222889" cy="160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32"/>
              </a:lnSpc>
              <a:spcBef>
                <a:spcPct val="0"/>
              </a:spcBef>
            </a:pPr>
            <a:r>
              <a:rPr lang="en-US" sz="4380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1.CREATE AND PRESENT AN ER DIAGRAM FOR AN ONLINE LIBRARY</a:t>
            </a:r>
          </a:p>
          <a:p>
            <a:pPr algn="ctr">
              <a:lnSpc>
                <a:spcPts val="6132"/>
              </a:lnSpc>
              <a:spcBef>
                <a:spcPct val="0"/>
              </a:spcBef>
            </a:pPr>
            <a:r>
              <a:rPr lang="en-US" sz="4380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SYSTEM, EXPLAINING EACH COMPONENT CLEARLY.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09078" y="517021"/>
            <a:ext cx="16367178" cy="1137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1"/>
              </a:lnSpc>
            </a:pPr>
            <a:r>
              <a:rPr lang="en-US" sz="8216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ER DIAGRAM COMPONENTS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730879"/>
            <a:ext cx="11737815" cy="841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Entities: Real-world object (Book, Member)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Member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Book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Librarian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Loan</a:t>
            </a:r>
          </a:p>
          <a:p>
            <a:pPr algn="l">
              <a:lnSpc>
                <a:spcPts val="3699"/>
              </a:lnSpc>
            </a:pPr>
            <a:endParaRPr lang="en-US" sz="3699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Attributes: Describes an entity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Member ID, Name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Book ID, Title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Loan Date, Return Date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endParaRPr lang="en-US" sz="3699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Relationships: Connects entities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Member borrows Book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Librarian manages Loan</a:t>
            </a:r>
          </a:p>
          <a:p>
            <a:pPr algn="l">
              <a:lnSpc>
                <a:spcPts val="3699"/>
              </a:lnSpc>
            </a:pPr>
            <a:endParaRPr lang="en-US" sz="3699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Primary Key: Unique identifier (Book ID, Member ID)</a:t>
            </a:r>
          </a:p>
          <a:p>
            <a:pPr algn="l">
              <a:lnSpc>
                <a:spcPts val="3699"/>
              </a:lnSpc>
            </a:pPr>
            <a:endParaRPr lang="en-US" sz="3699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3699"/>
              </a:lnSpc>
            </a:pPr>
            <a:endParaRPr lang="en-US" sz="3699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5105400" y="647700"/>
            <a:ext cx="9572184" cy="1418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65"/>
              </a:lnSpc>
            </a:pPr>
            <a:r>
              <a:rPr lang="en-US" sz="10315" b="1" dirty="0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ER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FFB24B-93AF-F050-5A46-02490892D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2552700"/>
            <a:ext cx="12299815" cy="60466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996" y="810147"/>
            <a:ext cx="17975863" cy="2268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3"/>
              </a:lnSpc>
            </a:pPr>
            <a:r>
              <a:rPr lang="en-US" sz="5515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2.PREPARE A PRESENTATION ON THE EER MODEL, DEMONSTRATING GENERALIZATION AND SPECIALIZATION WITH A UNIVERSITY CASE</a:t>
            </a:r>
          </a:p>
          <a:p>
            <a:pPr algn="l">
              <a:lnSpc>
                <a:spcPts val="3116"/>
              </a:lnSpc>
            </a:pPr>
            <a:endParaRPr lang="en-US" sz="5515" b="1">
              <a:solidFill>
                <a:srgbClr val="303030"/>
              </a:solidFill>
              <a:latin typeface="Times New Roman MT Condensed Bold"/>
              <a:ea typeface="Times New Roman MT Condensed Bold"/>
              <a:cs typeface="Times New Roman MT Condensed Bold"/>
              <a:sym typeface="Times New Roman MT Condensed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78064" y="4499909"/>
            <a:ext cx="11737815" cy="281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Enhanced ER (EER) Model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Extension of ER model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Supports inheritance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Represents complex data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Uses specialization and generalization</a:t>
            </a:r>
          </a:p>
          <a:p>
            <a:pPr algn="l">
              <a:lnSpc>
                <a:spcPts val="3699"/>
              </a:lnSpc>
            </a:pPr>
            <a:endParaRPr lang="en-US" sz="3699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03904" y="1152525"/>
            <a:ext cx="12037072" cy="119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2"/>
              </a:lnSpc>
            </a:pPr>
            <a:r>
              <a:rPr lang="en-US" sz="8633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UNIVERSITY CASE STUDY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257422"/>
            <a:ext cx="13942477" cy="748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9"/>
              </a:lnSpc>
            </a:pPr>
            <a:endParaRPr/>
          </a:p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Superclass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Person</a:t>
            </a:r>
          </a:p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Specialized Subclasses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Student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Faculty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Staff</a:t>
            </a:r>
          </a:p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Each subclass inherits: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Person ID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Name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Address</a:t>
            </a:r>
          </a:p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Additional attributes: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Student → Semester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Faculty → Department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Staff → Designation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endParaRPr lang="en-US" sz="3699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759" y="1394752"/>
            <a:ext cx="18002481" cy="224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33"/>
              </a:lnSpc>
            </a:pPr>
            <a:r>
              <a:rPr lang="en-US" sz="8016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GENERALIZATION AND SPECIALIZATION</a:t>
            </a:r>
          </a:p>
          <a:p>
            <a:pPr algn="l">
              <a:lnSpc>
                <a:spcPts val="8665"/>
              </a:lnSpc>
            </a:pPr>
            <a:endParaRPr lang="en-US" sz="8016" b="1">
              <a:solidFill>
                <a:srgbClr val="303030"/>
              </a:solidFill>
              <a:latin typeface="Times New Roman MT Condensed Bold"/>
              <a:ea typeface="Times New Roman MT Condensed Bold"/>
              <a:cs typeface="Times New Roman MT Condensed Bold"/>
              <a:sym typeface="Times New Roman MT Condensed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483171" y="3718832"/>
            <a:ext cx="11750853" cy="4218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SPECIALIZATION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Divides one entity into multiple subgroups.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Example: Person → Student, Faculty, Staff.</a:t>
            </a:r>
          </a:p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GENERALIZATION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Combines similar entities into one superclass.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Reduces duplication of common attributes.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Makes the database easier to maintain.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Improves data organization.</a:t>
            </a:r>
          </a:p>
          <a:p>
            <a:pPr algn="l">
              <a:lnSpc>
                <a:spcPts val="3699"/>
              </a:lnSpc>
            </a:pPr>
            <a:endParaRPr lang="en-US" sz="3699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545056" y="589293"/>
            <a:ext cx="9572184" cy="1184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7"/>
              </a:lnSpc>
            </a:pPr>
            <a:r>
              <a:rPr lang="en-US" sz="8616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EER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23C00-2780-F5C6-BCE7-104940AEE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028" y="2247900"/>
            <a:ext cx="13631944" cy="66714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52359" y="3031734"/>
            <a:ext cx="12048481" cy="468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Introduction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Data independence means modifying one level of the database without affecting another.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It is a key feature of DBMS architecture.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It separates application programs from database changes.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Supports easy database maintenance.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Based on the three-schema architecture.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Improves flexibility and scalability.</a:t>
            </a:r>
          </a:p>
          <a:p>
            <a:pPr algn="l">
              <a:lnSpc>
                <a:spcPts val="3699"/>
              </a:lnSpc>
            </a:pPr>
            <a:endParaRPr lang="en-US" sz="3699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0" y="404580"/>
            <a:ext cx="17526291" cy="171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13"/>
              </a:lnSpc>
              <a:spcBef>
                <a:spcPct val="0"/>
              </a:spcBef>
            </a:pPr>
            <a:r>
              <a:rPr lang="en-US" sz="4652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3.PRESENT THE CONCEPT OF DATA INDEPENDENCE (LOGICAL AND</a:t>
            </a:r>
          </a:p>
          <a:p>
            <a:pPr algn="ctr">
              <a:lnSpc>
                <a:spcPts val="6513"/>
              </a:lnSpc>
              <a:spcBef>
                <a:spcPct val="0"/>
              </a:spcBef>
            </a:pPr>
            <a:r>
              <a:rPr lang="en-US" sz="4652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PHYSICAL) AND ITS SIGNIFICANCE IN DBMS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13608" y="716979"/>
            <a:ext cx="17827275" cy="1189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43"/>
              </a:lnSpc>
            </a:pPr>
            <a:r>
              <a:rPr lang="en-US" sz="8623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TYPES OF DATA INDEPENDENCE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839085"/>
            <a:ext cx="13174039" cy="5267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2"/>
              </a:lnSpc>
            </a:pPr>
            <a:endParaRPr/>
          </a:p>
          <a:p>
            <a:pPr algn="l">
              <a:lnSpc>
                <a:spcPts val="4152"/>
              </a:lnSpc>
            </a:pPr>
            <a:r>
              <a:rPr lang="en-US" sz="4152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Physical Data Independence</a:t>
            </a:r>
          </a:p>
          <a:p>
            <a:pPr marL="896571" lvl="1" indent="-448286" algn="l">
              <a:lnSpc>
                <a:spcPts val="4152"/>
              </a:lnSpc>
              <a:buFont typeface="Arial"/>
              <a:buChar char="•"/>
            </a:pPr>
            <a:r>
              <a:rPr lang="en-US" sz="4152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Changes physical storage methods.</a:t>
            </a:r>
          </a:p>
          <a:p>
            <a:pPr marL="896571" lvl="1" indent="-448286" algn="l">
              <a:lnSpc>
                <a:spcPts val="4152"/>
              </a:lnSpc>
              <a:buFont typeface="Arial"/>
              <a:buChar char="•"/>
            </a:pPr>
            <a:r>
              <a:rPr lang="en-US" sz="4152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Logical schema remains unchanged.</a:t>
            </a:r>
          </a:p>
          <a:p>
            <a:pPr marL="896571" lvl="1" indent="-448286" algn="l">
              <a:lnSpc>
                <a:spcPts val="4152"/>
              </a:lnSpc>
              <a:buFont typeface="Arial"/>
              <a:buChar char="•"/>
            </a:pPr>
            <a:r>
              <a:rPr lang="en-US" sz="4152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Example: Changing file organization.</a:t>
            </a:r>
          </a:p>
          <a:p>
            <a:pPr algn="l">
              <a:lnSpc>
                <a:spcPts val="4152"/>
              </a:lnSpc>
            </a:pPr>
            <a:r>
              <a:rPr lang="en-US" sz="4152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Logical Data Independence</a:t>
            </a:r>
          </a:p>
          <a:p>
            <a:pPr marL="896571" lvl="1" indent="-448286" algn="l">
              <a:lnSpc>
                <a:spcPts val="4152"/>
              </a:lnSpc>
              <a:buFont typeface="Arial"/>
              <a:buChar char="•"/>
            </a:pPr>
            <a:r>
              <a:rPr lang="en-US" sz="4152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Changes logical database structure.</a:t>
            </a:r>
          </a:p>
          <a:p>
            <a:pPr marL="896571" lvl="1" indent="-448286" algn="l">
              <a:lnSpc>
                <a:spcPts val="4152"/>
              </a:lnSpc>
              <a:buFont typeface="Arial"/>
              <a:buChar char="•"/>
            </a:pPr>
            <a:r>
              <a:rPr lang="en-US" sz="4152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User applications continue working.</a:t>
            </a:r>
          </a:p>
          <a:p>
            <a:pPr marL="896571" lvl="1" indent="-448286" algn="l">
              <a:lnSpc>
                <a:spcPts val="4152"/>
              </a:lnSpc>
              <a:buFont typeface="Arial"/>
              <a:buChar char="•"/>
            </a:pPr>
            <a:r>
              <a:rPr lang="en-US" sz="4152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Example: Adding a new attribute.</a:t>
            </a:r>
          </a:p>
          <a:p>
            <a:pPr algn="l">
              <a:lnSpc>
                <a:spcPts val="4152"/>
              </a:lnSpc>
            </a:pPr>
            <a:endParaRPr lang="en-US" sz="4152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43350" y="876106"/>
            <a:ext cx="18227763" cy="91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9"/>
              </a:lnSpc>
            </a:pPr>
            <a:r>
              <a:rPr lang="en-US" sz="6725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IMPORTANCE OF DATA INDEPENDENCE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223596"/>
            <a:ext cx="12754035" cy="576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20"/>
              </a:lnSpc>
            </a:pPr>
            <a:endParaRPr/>
          </a:p>
          <a:p>
            <a:pPr marL="882234" lvl="1" indent="-441117" algn="l">
              <a:lnSpc>
                <a:spcPts val="5720"/>
              </a:lnSpc>
              <a:buFont typeface="Arial"/>
              <a:buChar char="•"/>
            </a:pPr>
            <a:r>
              <a:rPr lang="en-US" sz="4086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Simplifies database maintenance.</a:t>
            </a:r>
          </a:p>
          <a:p>
            <a:pPr marL="882234" lvl="1" indent="-441117" algn="l">
              <a:lnSpc>
                <a:spcPts val="5720"/>
              </a:lnSpc>
              <a:buFont typeface="Arial"/>
              <a:buChar char="•"/>
            </a:pPr>
            <a:r>
              <a:rPr lang="en-US" sz="4086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Reduces application modifications.</a:t>
            </a:r>
          </a:p>
          <a:p>
            <a:pPr marL="882234" lvl="1" indent="-441117" algn="l">
              <a:lnSpc>
                <a:spcPts val="5720"/>
              </a:lnSpc>
              <a:buFont typeface="Arial"/>
              <a:buChar char="•"/>
            </a:pPr>
            <a:r>
              <a:rPr lang="en-US" sz="4086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Supports future database expansion.</a:t>
            </a:r>
          </a:p>
          <a:p>
            <a:pPr marL="882234" lvl="1" indent="-441117" algn="l">
              <a:lnSpc>
                <a:spcPts val="5720"/>
              </a:lnSpc>
              <a:buFont typeface="Arial"/>
              <a:buChar char="•"/>
            </a:pPr>
            <a:r>
              <a:rPr lang="en-US" sz="4086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Improves system performance.</a:t>
            </a:r>
          </a:p>
          <a:p>
            <a:pPr marL="882234" lvl="1" indent="-441117" algn="l">
              <a:lnSpc>
                <a:spcPts val="5720"/>
              </a:lnSpc>
              <a:buFont typeface="Arial"/>
              <a:buChar char="•"/>
            </a:pPr>
            <a:r>
              <a:rPr lang="en-US" sz="4086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Protects user applications from internal changes.</a:t>
            </a:r>
          </a:p>
          <a:p>
            <a:pPr marL="882234" lvl="1" indent="-441117" algn="l">
              <a:lnSpc>
                <a:spcPts val="5720"/>
              </a:lnSpc>
              <a:buFont typeface="Arial"/>
              <a:buChar char="•"/>
            </a:pPr>
            <a:r>
              <a:rPr lang="en-US" sz="4086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Makes database management more efficient.</a:t>
            </a:r>
          </a:p>
          <a:p>
            <a:pPr algn="ctr">
              <a:lnSpc>
                <a:spcPts val="5720"/>
              </a:lnSpc>
              <a:spcBef>
                <a:spcPct val="0"/>
              </a:spcBef>
            </a:pPr>
            <a:endParaRPr lang="en-US" sz="4086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D88144-7354-54C5-D923-68B4AAA0F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67" y="767559"/>
            <a:ext cx="17614666" cy="875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06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76300"/>
            <a:ext cx="16385459" cy="2056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4.DELIVER A TECHNICAL PRESENTATION ON THE SOFTWARE COMPONENTS</a:t>
            </a:r>
          </a:p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OF A DBMS, EXPLAINING QUERY PROCESSOR, STORAGE MANAGER,</a:t>
            </a:r>
          </a:p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AND TRANSACTION MANAGER.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98203" y="3698875"/>
            <a:ext cx="11378565" cy="555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DBMS consists of different software modules.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These modules process, store, and manage data.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The three major components are: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Query Processor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Storage Manager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Transaction Manager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Each component performs a specific function.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Together they ensure efficient database operations.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3500" b="1">
              <a:solidFill>
                <a:srgbClr val="000000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00233" y="1706563"/>
            <a:ext cx="11730214" cy="679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Query Processor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Accepts SQL queries.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Checks syntax and validity.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Optimizes query execution.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Retrieves requested data efficiently.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Storage Manager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Manages files and indexes.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Controls data storage on disks.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Allocates memory space.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Retrieves stored data quickly.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30282" y="2433621"/>
            <a:ext cx="9086493" cy="494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Transaction Manager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Manages multiple database transactions.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Ensures ACID properties.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Maintains data consistency.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Supports concurrent user access.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Handles Commit and Rollback operations.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Prevents data loss during failures.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58BECD-18EE-BA33-BCE4-7397B78BF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6700"/>
            <a:ext cx="17101503" cy="96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57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632" y="64396"/>
            <a:ext cx="18116368" cy="1747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3"/>
              </a:lnSpc>
              <a:spcBef>
                <a:spcPct val="0"/>
              </a:spcBef>
            </a:pPr>
            <a:r>
              <a:rPr lang="en-US" sz="4766" b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5.PREPARE A PRESENTATION COMPARING STRONG AND WEAK ENTITIES IN ER MODELING WITH REAL-WORLD EXAMPLES.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00233" y="3230038"/>
            <a:ext cx="10933629" cy="494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Introduction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Entities represent real-world objects in a database.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They are classified as Strong or Weak entities.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Strong entities exist independently.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Weak entities depend on another entity.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Both are represented differently in ER diagrams.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They help define database relationships.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18590" y="1519555"/>
            <a:ext cx="8120420" cy="718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Strong Entity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Characteristics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Has its own primary key.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Exists independently.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Represented by a single rectangle.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Does not depend on another entity.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Examples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Student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Employee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Book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Customer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16295" y="1519555"/>
            <a:ext cx="9887188" cy="718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Weak Entity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Characteristics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Has no complete primary key.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Depends on a strong entity.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a partial key.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Represented by a double rectangle.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Connected using an identifying relationship.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Examples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Employee → Dependent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Order → Order Item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Library Member → Loan Record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E55C20-56F3-D257-071C-DF1E63EAF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71500"/>
            <a:ext cx="16459199" cy="89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329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646</Words>
  <Application>Microsoft Office PowerPoint</Application>
  <PresentationFormat>Custom</PresentationFormat>
  <Paragraphs>145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Calibri</vt:lpstr>
      <vt:lpstr>Canva Sans Bold</vt:lpstr>
      <vt:lpstr>Clear Sans</vt:lpstr>
      <vt:lpstr>Clear Sans Bold</vt:lpstr>
      <vt:lpstr>Arial</vt:lpstr>
      <vt:lpstr>Times New Roman MT Condensed Bold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dbms technical presentation</dc:title>
  <cp:lastModifiedBy>Deepthi K</cp:lastModifiedBy>
  <cp:revision>3</cp:revision>
  <dcterms:created xsi:type="dcterms:W3CDTF">2006-08-16T00:00:00Z</dcterms:created>
  <dcterms:modified xsi:type="dcterms:W3CDTF">2026-07-22T11:51:10Z</dcterms:modified>
  <dc:identifier>DAHQCtKT__g</dc:identifier>
</cp:coreProperties>
</file>